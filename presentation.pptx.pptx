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9" r:id="rId4"/>
    <p:sldId id="270" r:id="rId5"/>
    <p:sldId id="261" r:id="rId6"/>
    <p:sldId id="262" r:id="rId7"/>
    <p:sldId id="265" r:id="rId8"/>
    <p:sldId id="271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658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1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50" b="1" i="1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6412" y="3410893"/>
            <a:ext cx="10582656" cy="624643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2491" y="3429275"/>
            <a:ext cx="790574" cy="94297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9067" y="6532064"/>
            <a:ext cx="2266949" cy="34670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63256" y="6914616"/>
            <a:ext cx="2752724" cy="302894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687166" y="7479277"/>
            <a:ext cx="3486149" cy="280772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993558"/>
            <a:ext cx="16256000" cy="16555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8370" y="2825416"/>
            <a:ext cx="8228330" cy="5719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1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552700"/>
            <a:ext cx="5676899" cy="42576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944600" y="9564923"/>
            <a:ext cx="401019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chemeClr val="tx1"/>
                </a:solidFill>
                <a:latin typeface="Arial MT"/>
                <a:cs typeface="Palatino Linotype" panose="02040502050505030304"/>
              </a:rPr>
              <a:t>By</a:t>
            </a:r>
            <a:r>
              <a:rPr sz="2700" spc="20" dirty="0">
                <a:solidFill>
                  <a:schemeClr val="tx1"/>
                </a:solidFill>
                <a:latin typeface="Arial MT"/>
                <a:cs typeface="Palatino Linotype" panose="02040502050505030304"/>
              </a:rPr>
              <a:t> </a:t>
            </a:r>
            <a:r>
              <a:rPr sz="2700" dirty="0">
                <a:solidFill>
                  <a:schemeClr val="tx1"/>
                </a:solidFill>
                <a:latin typeface="Arial MT"/>
                <a:cs typeface="Palatino Linotype" panose="02040502050505030304"/>
              </a:rPr>
              <a:t>:</a:t>
            </a:r>
            <a:r>
              <a:rPr lang="en-US" sz="2700" dirty="0">
                <a:solidFill>
                  <a:schemeClr val="tx1"/>
                </a:solidFill>
                <a:latin typeface="Arial MT"/>
                <a:cs typeface="Palatino Linotype" panose="02040502050505030304"/>
              </a:rPr>
              <a:t> MADHAVAN M N</a:t>
            </a:r>
            <a:endParaRPr sz="2700" dirty="0">
              <a:solidFill>
                <a:schemeClr val="tx1"/>
              </a:solidFill>
              <a:latin typeface="Arial MT"/>
              <a:cs typeface="Palatino Linotype" panose="020405020505050303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7D2A04-3EBF-42C0-34CE-A273C5FA7092}"/>
              </a:ext>
            </a:extLst>
          </p:cNvPr>
          <p:cNvSpPr txBox="1"/>
          <p:nvPr/>
        </p:nvSpPr>
        <p:spPr>
          <a:xfrm>
            <a:off x="5259842" y="4127539"/>
            <a:ext cx="1116684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McDonlad’s</a:t>
            </a:r>
            <a:r>
              <a:rPr lang="en-US" sz="6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Sales Analysis</a:t>
            </a:r>
            <a:endParaRPr lang="en-IN" sz="66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0114" y="1569254"/>
            <a:ext cx="8234323" cy="8227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86371" y="3632263"/>
            <a:ext cx="7686674" cy="33146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4582" y="869703"/>
            <a:ext cx="16256000" cy="1009481"/>
          </a:xfrm>
          <a:prstGeom prst="rect">
            <a:avLst/>
          </a:prstGeom>
        </p:spPr>
        <p:txBody>
          <a:bodyPr vert="horz" wrap="square" lIns="0" tIns="329158" rIns="0" bIns="0" rtlCol="0">
            <a:spAutoFit/>
          </a:bodyPr>
          <a:lstStyle/>
          <a:p>
            <a:pPr marL="456565">
              <a:lnSpc>
                <a:spcPct val="100000"/>
              </a:lnSpc>
              <a:spcBef>
                <a:spcPts val="100"/>
              </a:spcBef>
            </a:pPr>
            <a:r>
              <a:rPr lang="en-US" sz="4400" b="1" spc="-400" dirty="0">
                <a:latin typeface="Arial" panose="020B0604020202020204"/>
                <a:cs typeface="Arial" panose="020B0604020202020204"/>
              </a:rPr>
              <a:t>PROJECT OBJECTIVE</a:t>
            </a:r>
            <a:endParaRPr sz="4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1016000" y="3778787"/>
            <a:ext cx="8228330" cy="316817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69900" marR="6985" indent="-457200" algn="just">
              <a:lnSpc>
                <a:spcPts val="293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IN" spc="-105" dirty="0"/>
              <a:t>To </a:t>
            </a:r>
            <a:r>
              <a:rPr lang="en-IN" spc="-105" dirty="0" err="1"/>
              <a:t>analyze</a:t>
            </a:r>
            <a:r>
              <a:rPr lang="en-IN" spc="-105" dirty="0"/>
              <a:t> McDonald’s sales data and identify key revenue trends.</a:t>
            </a:r>
          </a:p>
          <a:p>
            <a:pPr marL="469900" marR="6985" indent="-457200" algn="just">
              <a:lnSpc>
                <a:spcPts val="293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IN" spc="-105" dirty="0"/>
              <a:t>To evaluate product performance across categories.</a:t>
            </a:r>
          </a:p>
          <a:p>
            <a:pPr marL="469900" marR="6985" indent="-457200" algn="just">
              <a:lnSpc>
                <a:spcPts val="293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IN" spc="-105" dirty="0"/>
              <a:t>To understand customer ordering </a:t>
            </a:r>
            <a:r>
              <a:rPr lang="en-IN" spc="-105" dirty="0" err="1"/>
              <a:t>behavior</a:t>
            </a:r>
            <a:r>
              <a:rPr lang="en-IN" spc="-105" dirty="0"/>
              <a:t> (time &amp; day patterns).</a:t>
            </a:r>
          </a:p>
          <a:p>
            <a:pPr marL="469900" marR="6985" indent="-457200" algn="just">
              <a:lnSpc>
                <a:spcPts val="293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IN" spc="-105" dirty="0"/>
              <a:t>To derive actionable business insights using Excel dashboard.</a:t>
            </a:r>
          </a:p>
          <a:p>
            <a:pPr marL="469900" marR="6985" indent="-457200" algn="just">
              <a:lnSpc>
                <a:spcPts val="293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IN" spc="-105" dirty="0"/>
              <a:t>To support data-driven decision making.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56146-3D9C-D65C-7F27-DB6A91B95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2006A1D-81DB-E0BB-48A6-12B63ED3753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0114" y="1569254"/>
            <a:ext cx="8234323" cy="8227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4FA42D4D-E9B0-FDE4-97A6-CE0546E23D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114" y="876300"/>
            <a:ext cx="16256000" cy="1009481"/>
          </a:xfrm>
          <a:prstGeom prst="rect">
            <a:avLst/>
          </a:prstGeom>
        </p:spPr>
        <p:txBody>
          <a:bodyPr vert="horz" wrap="square" lIns="0" tIns="329158" rIns="0" bIns="0" rtlCol="0">
            <a:spAutoFit/>
          </a:bodyPr>
          <a:lstStyle/>
          <a:p>
            <a:pPr marL="456565">
              <a:lnSpc>
                <a:spcPct val="100000"/>
              </a:lnSpc>
              <a:spcBef>
                <a:spcPts val="100"/>
              </a:spcBef>
            </a:pPr>
            <a:r>
              <a:rPr lang="en-US" sz="4400" b="1" spc="-400" dirty="0">
                <a:latin typeface="Arial" panose="020B0604020202020204"/>
                <a:cs typeface="Arial" panose="020B0604020202020204"/>
              </a:rPr>
              <a:t>Interactive Sales Dashboard</a:t>
            </a:r>
            <a:endParaRPr sz="44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B9EEA2-7D1A-B8DE-D523-30162BC4F7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4" t="24762" r="29286" b="15782"/>
          <a:stretch>
            <a:fillRect/>
          </a:stretch>
        </p:blipFill>
        <p:spPr>
          <a:xfrm>
            <a:off x="590938" y="2824956"/>
            <a:ext cx="17235383" cy="696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47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E7907-072B-4AF2-0186-47E984EA5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396C28E6-8C82-603F-A769-AA339903A6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0114" y="1569254"/>
            <a:ext cx="8234323" cy="8227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B14214FC-9C5C-A7E3-EB48-FFDA19F819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114" y="876300"/>
            <a:ext cx="16256000" cy="1009481"/>
          </a:xfrm>
          <a:prstGeom prst="rect">
            <a:avLst/>
          </a:prstGeom>
        </p:spPr>
        <p:txBody>
          <a:bodyPr vert="horz" wrap="square" lIns="0" tIns="329158" rIns="0" bIns="0" rtlCol="0">
            <a:spAutoFit/>
          </a:bodyPr>
          <a:lstStyle/>
          <a:p>
            <a:pPr marL="456565">
              <a:lnSpc>
                <a:spcPct val="100000"/>
              </a:lnSpc>
              <a:spcBef>
                <a:spcPts val="100"/>
              </a:spcBef>
            </a:pPr>
            <a:r>
              <a:rPr lang="en-US" sz="4400" b="1" spc="-400" dirty="0">
                <a:latin typeface="Arial" panose="020B0604020202020204"/>
                <a:cs typeface="Arial" panose="020B0604020202020204"/>
              </a:rPr>
              <a:t>Interactive Sales Dashboard</a:t>
            </a:r>
            <a:endParaRPr sz="44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0FC40D-9DF8-902A-F688-8DD5B764B0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0" t="25578" r="41455" b="10068"/>
          <a:stretch>
            <a:fillRect/>
          </a:stretch>
        </p:blipFill>
        <p:spPr>
          <a:xfrm>
            <a:off x="718456" y="2344479"/>
            <a:ext cx="16731343" cy="59933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AFD28A-7979-2E45-E093-96086AC9D7FE}"/>
              </a:ext>
            </a:extLst>
          </p:cNvPr>
          <p:cNvSpPr txBox="1"/>
          <p:nvPr/>
        </p:nvSpPr>
        <p:spPr>
          <a:xfrm>
            <a:off x="535187" y="8949035"/>
            <a:ext cx="93923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dashboard summarizes revenue, order trends, and product performance.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It provides a consolidated view of monthly, category-wise, and customer behavior insights.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Built using Pivot Tables, Pivot Charts, and Excel visualization tools.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41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519332" y="1251617"/>
            <a:ext cx="670940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b="1" spc="-465" dirty="0">
                <a:latin typeface="Arial" panose="020B0604020202020204"/>
                <a:cs typeface="Arial" panose="020B0604020202020204"/>
              </a:rPr>
              <a:t>KEY INSIGHTS</a:t>
            </a:r>
            <a:endParaRPr sz="4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1BF2C43F-3979-28FA-5E2A-04DA4D783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66800" y="2857500"/>
            <a:ext cx="15824200" cy="52691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69900" marR="6985" indent="-457200" algn="just">
              <a:lnSpc>
                <a:spcPct val="2000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US" sz="2800" spc="-105" dirty="0"/>
              <a:t>Burger category generated the highest revenue contribution.</a:t>
            </a:r>
          </a:p>
          <a:p>
            <a:pPr marL="469900" marR="6985" indent="-457200" algn="just">
              <a:lnSpc>
                <a:spcPct val="2000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US" sz="2800" spc="-105" dirty="0"/>
              <a:t>Afternoon time slot recorded the highest order volume.</a:t>
            </a:r>
          </a:p>
          <a:p>
            <a:pPr marL="469900" marR="6985" indent="-457200" algn="just">
              <a:lnSpc>
                <a:spcPct val="2000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US" sz="2800" spc="-105" dirty="0"/>
              <a:t>Weekday sales were higher compared to weekends.</a:t>
            </a:r>
          </a:p>
          <a:p>
            <a:pPr marL="469900" marR="6985" indent="-457200" algn="just">
              <a:lnSpc>
                <a:spcPct val="2000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US" sz="2800" spc="-105" dirty="0"/>
              <a:t>Top 5 menu items significantly contributed to total revenue.</a:t>
            </a:r>
          </a:p>
          <a:p>
            <a:pPr marL="469900" marR="6985" indent="-457200" algn="just">
              <a:lnSpc>
                <a:spcPct val="2000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US" sz="2800" spc="-105" dirty="0"/>
              <a:t>Monthly sales trend showed stable performance with minor fluctuations.</a:t>
            </a:r>
          </a:p>
          <a:p>
            <a:pPr marL="469900" marR="6985" indent="-457200" algn="just">
              <a:lnSpc>
                <a:spcPct val="2000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US" sz="2800" spc="-105" dirty="0"/>
              <a:t>Certain categories showed consistent demand across all months.</a:t>
            </a:r>
            <a:endParaRPr sz="2800"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66700"/>
            <a:ext cx="18111470" cy="10287000"/>
            <a:chOff x="0" y="0"/>
            <a:chExt cx="1811147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111245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85648" y="2756192"/>
              <a:ext cx="1476374" cy="10472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404" y="3041627"/>
              <a:ext cx="16497299" cy="13906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6065" y="2863329"/>
              <a:ext cx="1476374" cy="10472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6184" y="2863329"/>
              <a:ext cx="1476374" cy="10472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06970" y="1504045"/>
              <a:ext cx="8362949" cy="20954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16000" y="1253168"/>
            <a:ext cx="16256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00"/>
              </a:spcBef>
            </a:pPr>
            <a:r>
              <a:rPr lang="en-IN" sz="4400" b="1" spc="-465" dirty="0">
                <a:latin typeface="Arial" panose="020B0604020202020204"/>
                <a:cs typeface="Arial" panose="020B0604020202020204"/>
              </a:rPr>
              <a:t>BUSINESS RECOMMENDATIONS</a:t>
            </a:r>
            <a:endParaRPr sz="4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7344" y="3469386"/>
            <a:ext cx="208279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b="1" i="1" spc="-500" dirty="0">
                <a:solidFill>
                  <a:srgbClr val="2B2820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75091" y="3469386"/>
            <a:ext cx="25400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b="1" i="1" spc="-50" dirty="0">
                <a:solidFill>
                  <a:srgbClr val="2B2820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36868" y="3467100"/>
            <a:ext cx="255904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b="1" i="1" spc="-50" dirty="0">
                <a:solidFill>
                  <a:srgbClr val="2B2820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95816" y="3467100"/>
            <a:ext cx="27686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b="1" i="1" spc="40" dirty="0">
                <a:solidFill>
                  <a:srgbClr val="2B2820"/>
                </a:solidFill>
                <a:latin typeface="Trebuchet MS" panose="020B0603020202020204"/>
                <a:cs typeface="Trebuchet MS" panose="020B0603020202020204"/>
              </a:rPr>
              <a:t>4</a:t>
            </a:r>
            <a:endParaRPr sz="32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6800" y="4692079"/>
            <a:ext cx="3281045" cy="16630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28000"/>
              </a:lnSpc>
              <a:spcBef>
                <a:spcPts val="95"/>
              </a:spcBef>
            </a:pPr>
            <a:r>
              <a:rPr lang="en-US" sz="2150" b="1" spc="55" dirty="0">
                <a:solidFill>
                  <a:srgbClr val="2B2820"/>
                </a:solidFill>
                <a:latin typeface="Cambria" panose="02040503050406030204"/>
                <a:cs typeface="Cambria" panose="02040503050406030204"/>
              </a:rPr>
              <a:t>Focus promotional campaigns on high-performing categories to maximize revenue.</a:t>
            </a:r>
            <a:endParaRPr sz="215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57800" y="4703965"/>
            <a:ext cx="3314065" cy="1239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28000"/>
              </a:lnSpc>
              <a:spcBef>
                <a:spcPts val="95"/>
              </a:spcBef>
            </a:pPr>
            <a:r>
              <a:rPr lang="en-US" sz="2150" b="1" dirty="0">
                <a:solidFill>
                  <a:srgbClr val="2B2820"/>
                </a:solidFill>
                <a:latin typeface="Cambria" panose="02040503050406030204"/>
                <a:cs typeface="Cambria" panose="02040503050406030204"/>
              </a:rPr>
              <a:t>Introduce offers during low-sales time slots to balance demand.</a:t>
            </a:r>
            <a:endParaRPr sz="215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48800" y="4703413"/>
            <a:ext cx="3216275" cy="1239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28000"/>
              </a:lnSpc>
              <a:spcBef>
                <a:spcPts val="95"/>
              </a:spcBef>
            </a:pPr>
            <a:r>
              <a:rPr lang="en-US" sz="2150" b="1" dirty="0">
                <a:solidFill>
                  <a:srgbClr val="2B2820"/>
                </a:solidFill>
                <a:latin typeface="Cambria" panose="02040503050406030204"/>
                <a:cs typeface="Cambria" panose="02040503050406030204"/>
              </a:rPr>
              <a:t>Bundle top-selling items to increase average order value.</a:t>
            </a:r>
            <a:endParaRPr sz="215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487400" y="4742130"/>
            <a:ext cx="3437254" cy="1239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28000"/>
              </a:lnSpc>
              <a:spcBef>
                <a:spcPts val="95"/>
              </a:spcBef>
            </a:pPr>
            <a:r>
              <a:rPr lang="en-US" sz="2150" b="1" dirty="0">
                <a:solidFill>
                  <a:srgbClr val="2B2820"/>
                </a:solidFill>
                <a:latin typeface="Cambria" panose="02040503050406030204"/>
                <a:cs typeface="Cambria" panose="02040503050406030204"/>
              </a:rPr>
              <a:t>Strengthen weekend marketing strategies to boost sales.</a:t>
            </a:r>
            <a:endParaRPr sz="215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7914" y="0"/>
            <a:ext cx="16240085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993558"/>
            <a:ext cx="162560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1030">
              <a:lnSpc>
                <a:spcPct val="100000"/>
              </a:lnSpc>
              <a:spcBef>
                <a:spcPts val="100"/>
              </a:spcBef>
            </a:pPr>
            <a:r>
              <a:rPr lang="en-US" sz="6000" b="1" spc="-409" dirty="0">
                <a:latin typeface="Arial" panose="020B0604020202020204"/>
                <a:cs typeface="Arial" panose="020B0604020202020204"/>
              </a:rPr>
              <a:t>CONCLUSION</a:t>
            </a:r>
            <a:endParaRPr sz="6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98537" y="6412318"/>
            <a:ext cx="10810240" cy="1081706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lang="en-US" sz="2950" b="1" i="1" spc="-65" dirty="0">
                <a:solidFill>
                  <a:srgbClr val="233D32"/>
                </a:solidFill>
                <a:latin typeface="Trebuchet MS" panose="020B0603020202020204"/>
                <a:cs typeface="Trebuchet MS" panose="020B0603020202020204"/>
              </a:rPr>
              <a:t>Data-driven insights can help improve revenue planning and operational strategies.</a:t>
            </a:r>
            <a:endParaRPr sz="245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5912" y="2695705"/>
            <a:ext cx="10490200" cy="1093248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lang="en-US" sz="2950" b="1" i="1" spc="-120" dirty="0">
                <a:solidFill>
                  <a:srgbClr val="233D32"/>
                </a:solidFill>
                <a:latin typeface="Trebuchet MS" panose="020B0603020202020204"/>
                <a:cs typeface="Trebuchet MS" panose="020B0603020202020204"/>
              </a:rPr>
              <a:t>The analysis provided meaningful insights into sales patterns and customer behavior.</a:t>
            </a:r>
            <a:endParaRPr sz="245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3486" y="5160880"/>
            <a:ext cx="238760" cy="546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400" spc="-170" dirty="0">
                <a:solidFill>
                  <a:srgbClr val="2B2820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340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4324" y="7070404"/>
            <a:ext cx="236854" cy="546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400" spc="-160" dirty="0">
                <a:solidFill>
                  <a:srgbClr val="2B2820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34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54887" y="3251365"/>
            <a:ext cx="211454" cy="546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400" spc="-50" dirty="0">
                <a:solidFill>
                  <a:srgbClr val="2B2820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34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5912" y="4529403"/>
            <a:ext cx="11047095" cy="1081706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lang="en-US" sz="2950" b="1" i="1" spc="-50" dirty="0">
                <a:solidFill>
                  <a:srgbClr val="233D32"/>
                </a:solidFill>
                <a:latin typeface="Trebuchet MS" panose="020B0603020202020204"/>
                <a:cs typeface="Trebuchet MS" panose="020B0603020202020204"/>
              </a:rPr>
              <a:t>Excel dashboard effectively visualized business performance metrics.</a:t>
            </a:r>
            <a:endParaRPr sz="245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B5192-2CC4-1136-A0A1-57D5AA01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6B16829-04DD-046C-BA23-9C34B4EBEF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4207346"/>
            <a:ext cx="162560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1030">
              <a:lnSpc>
                <a:spcPct val="100000"/>
              </a:lnSpc>
              <a:spcBef>
                <a:spcPts val="100"/>
              </a:spcBef>
            </a:pPr>
            <a:r>
              <a:rPr lang="en-US" sz="6000" b="1" spc="-409" dirty="0">
                <a:latin typeface="Arial" panose="020B0604020202020204"/>
                <a:cs typeface="Arial" panose="020B0604020202020204"/>
              </a:rPr>
              <a:t>THANK YOU</a:t>
            </a:r>
            <a:endParaRPr sz="6000" dirty="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48197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236</Words>
  <Application>Microsoft Office PowerPoint</Application>
  <PresentationFormat>Custom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MT</vt:lpstr>
      <vt:lpstr>Arial Rounded MT Bold</vt:lpstr>
      <vt:lpstr>Cambria</vt:lpstr>
      <vt:lpstr>Georgia</vt:lpstr>
      <vt:lpstr>Trebuchet MS</vt:lpstr>
      <vt:lpstr>Office Theme</vt:lpstr>
      <vt:lpstr>PowerPoint Presentation</vt:lpstr>
      <vt:lpstr>PROJECT OBJECTIVE</vt:lpstr>
      <vt:lpstr>Interactive Sales Dashboard</vt:lpstr>
      <vt:lpstr>Interactive Sales Dashboard</vt:lpstr>
      <vt:lpstr>KEY INSIGHTS</vt:lpstr>
      <vt:lpstr>BUSINESS RECOMMENDATIONS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McDonald_s Dashboard using Excel</dc:title>
  <dc:creator>Anchal Dayal</dc:creator>
  <cp:keywords>DAGbGJMzStI,BAF3b8hQIT4</cp:keywords>
  <cp:lastModifiedBy>Deepak Kumar</cp:lastModifiedBy>
  <cp:revision>5</cp:revision>
  <dcterms:created xsi:type="dcterms:W3CDTF">2026-02-12T12:27:58Z</dcterms:created>
  <dcterms:modified xsi:type="dcterms:W3CDTF">2026-02-12T12:46:06Z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2025-01-03T05:30:00Z</vt:filetime>
  </property>
  <property fmtid="{D5CDD505-2E9C-101B-9397-08002B2CF9AE}" pid="3" name="Creator">
    <vt:lpwstr>Canva</vt:lpwstr>
  </property>
  <property fmtid="{D5CDD505-2E9C-101B-9397-08002B2CF9AE}" pid="4" name="LastSaved">
    <vt:filetime>2026-02-12T05:30:00Z</vt:filetime>
  </property>
  <property fmtid="{D5CDD505-2E9C-101B-9397-08002B2CF9AE}" pid="5" name="Producer">
    <vt:lpwstr>Canva</vt:lpwstr>
  </property>
  <property fmtid="{D5CDD505-2E9C-101B-9397-08002B2CF9AE}" pid="6" name="ICV">
    <vt:lpwstr>85E35F87E3D247529BC007D54E3C9733_12</vt:lpwstr>
  </property>
  <property fmtid="{D5CDD505-2E9C-101B-9397-08002B2CF9AE}" pid="7" name="KSOProductBuildVer">
    <vt:lpwstr>1033-12.2.0.23196</vt:lpwstr>
  </property>
</Properties>
</file>